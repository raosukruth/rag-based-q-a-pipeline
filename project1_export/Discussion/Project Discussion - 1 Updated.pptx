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Teko SemiBold"/>
      <p:regular r:id="rId34"/>
      <p:bold r:id="rId35"/>
    </p:embeddedFont>
    <p:embeddedFont>
      <p:font typeface="Teko"/>
      <p:regular r:id="rId36"/>
      <p:bold r:id="rId37"/>
    </p:embeddedFont>
    <p:embeddedFont>
      <p:font typeface="Source Sans 3 SemiBold"/>
      <p:regular r:id="rId38"/>
      <p:bold r:id="rId39"/>
      <p:italic r:id="rId40"/>
      <p:boldItalic r:id="rId41"/>
    </p:embeddedFont>
    <p:embeddedFont>
      <p:font typeface="Source Sans 3 Medium"/>
      <p:regular r:id="rId42"/>
      <p:bold r:id="rId43"/>
      <p:italic r:id="rId44"/>
      <p:boldItalic r:id="rId45"/>
    </p:embeddedFont>
    <p:embeddedFont>
      <p:font typeface="Source Sans 3"/>
      <p:regular r:id="rId46"/>
      <p:bold r:id="rId47"/>
      <p:italic r:id="rId48"/>
      <p:boldItalic r:id="rId49"/>
    </p:embeddedFont>
    <p:embeddedFont>
      <p:font typeface="Teko Medium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ans3SemiBold-italic.fntdata"/><Relationship Id="rId42" Type="http://schemas.openxmlformats.org/officeDocument/2006/relationships/font" Target="fonts/SourceSans3Medium-regular.fntdata"/><Relationship Id="rId41" Type="http://schemas.openxmlformats.org/officeDocument/2006/relationships/font" Target="fonts/SourceSans3SemiBold-boldItalic.fntdata"/><Relationship Id="rId44" Type="http://schemas.openxmlformats.org/officeDocument/2006/relationships/font" Target="fonts/SourceSans3Medium-italic.fntdata"/><Relationship Id="rId43" Type="http://schemas.openxmlformats.org/officeDocument/2006/relationships/font" Target="fonts/SourceSans3Medium-bold.fntdata"/><Relationship Id="rId46" Type="http://schemas.openxmlformats.org/officeDocument/2006/relationships/font" Target="fonts/SourceSans3-regular.fntdata"/><Relationship Id="rId45" Type="http://schemas.openxmlformats.org/officeDocument/2006/relationships/font" Target="fonts/SourceSans3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Sans3-italic.fntdata"/><Relationship Id="rId47" Type="http://schemas.openxmlformats.org/officeDocument/2006/relationships/font" Target="fonts/SourceSans3-bold.fntdata"/><Relationship Id="rId49" Type="http://schemas.openxmlformats.org/officeDocument/2006/relationships/font" Target="fonts/SourceSans3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TekoSemiBold-bold.fntdata"/><Relationship Id="rId34" Type="http://schemas.openxmlformats.org/officeDocument/2006/relationships/font" Target="fonts/TekoSemiBold-regular.fntdata"/><Relationship Id="rId37" Type="http://schemas.openxmlformats.org/officeDocument/2006/relationships/font" Target="fonts/Teko-bold.fntdata"/><Relationship Id="rId36" Type="http://schemas.openxmlformats.org/officeDocument/2006/relationships/font" Target="fonts/Teko-regular.fntdata"/><Relationship Id="rId39" Type="http://schemas.openxmlformats.org/officeDocument/2006/relationships/font" Target="fonts/SourceSans3SemiBold-bold.fntdata"/><Relationship Id="rId38" Type="http://schemas.openxmlformats.org/officeDocument/2006/relationships/font" Target="fonts/SourceSans3SemiBold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TekoMedium-bold.fntdata"/><Relationship Id="rId50" Type="http://schemas.openxmlformats.org/officeDocument/2006/relationships/font" Target="fonts/TekoMedium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5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 type="title">
  <p:cSld name="TITLE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>
            <p:ph idx="2" type="pic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3 SemiBold"/>
              <a:buNone/>
              <a:defRPr sz="1800">
                <a:solidFill>
                  <a:schemeClr val="lt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subTitle"/>
          </p:nvPr>
        </p:nvSpPr>
        <p:spPr>
          <a:xfrm>
            <a:off x="461400" y="4429125"/>
            <a:ext cx="8229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753">
          <p15:clr>
            <a:srgbClr val="E46962"/>
          </p15:clr>
        </p15:guide>
        <p15:guide id="4" orient="horz" pos="2203">
          <p15:clr>
            <a:srgbClr val="E46962"/>
          </p15:clr>
        </p15:guide>
        <p15:guide id="5" orient="horz" pos="295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Numbered">
  <p:cSld name="Agenda Numbered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>
            <p:ph idx="1" type="body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19" name="Google Shape;19;p3"/>
          <p:cNvSpPr/>
          <p:nvPr>
            <p:ph idx="2" type="body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0" name="Google Shape;20;p3"/>
          <p:cNvSpPr/>
          <p:nvPr>
            <p:ph idx="3" type="body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1" name="Google Shape;21;p3"/>
          <p:cNvSpPr/>
          <p:nvPr>
            <p:ph idx="4" type="body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2" name="Google Shape;22;p3"/>
          <p:cNvSpPr/>
          <p:nvPr>
            <p:ph idx="5" type="body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3" name="Google Shape;23;p3"/>
          <p:cNvSpPr/>
          <p:nvPr>
            <p:ph idx="6" type="body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4" name="Google Shape;24;p3"/>
          <p:cNvSpPr/>
          <p:nvPr>
            <p:ph idx="7" type="body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5" name="Google Shape;25;p3"/>
          <p:cNvSpPr/>
          <p:nvPr>
            <p:ph idx="8" type="body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6" name="Google Shape;26;p3"/>
          <p:cNvSpPr/>
          <p:nvPr>
            <p:ph idx="9" type="body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7" name="Google Shape;27;p3"/>
          <p:cNvSpPr/>
          <p:nvPr>
            <p:ph idx="13" type="body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baseline="-25000" i="0" sz="2700">
                <a:latin typeface="Teko Medium"/>
                <a:ea typeface="Teko Medium"/>
                <a:cs typeface="Teko Medium"/>
                <a:sym typeface="Teko Medium"/>
              </a:defRPr>
            </a:lvl1pPr>
            <a:lvl2pPr indent="-400050" lvl="1" marL="914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indent="-400050" lvl="2" marL="1371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indent="-400050" lvl="3" marL="1828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indent="-400050" lvl="4" marL="22860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indent="-400050" lvl="5" marL="27432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indent="-400050" lvl="6" marL="32004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indent="-400050" lvl="7" marL="3657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indent="-400050" lvl="8" marL="41148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/>
          <p:nvPr>
            <p:ph idx="14" type="subTitle"/>
          </p:nvPr>
        </p:nvSpPr>
        <p:spPr>
          <a:xfrm>
            <a:off x="951200" y="1302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5" type="subTitle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6" type="subTitle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7" type="subTitle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8" type="subTitle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9" type="subTitle"/>
          </p:nvPr>
        </p:nvSpPr>
        <p:spPr>
          <a:xfrm>
            <a:off x="5215425" y="1302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20" type="subTitle"/>
          </p:nvPr>
        </p:nvSpPr>
        <p:spPr>
          <a:xfrm>
            <a:off x="5215425" y="18868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21" type="subTitle"/>
          </p:nvPr>
        </p:nvSpPr>
        <p:spPr>
          <a:xfrm>
            <a:off x="5215425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22" type="subTitle"/>
          </p:nvPr>
        </p:nvSpPr>
        <p:spPr>
          <a:xfrm>
            <a:off x="5215425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" name="Google Shape;39;p3"/>
          <p:cNvSpPr txBox="1"/>
          <p:nvPr>
            <p:ph idx="23" type="subTitle"/>
          </p:nvPr>
        </p:nvSpPr>
        <p:spPr>
          <a:xfrm>
            <a:off x="5215425" y="36411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69">
          <p15:clr>
            <a:srgbClr val="E46962"/>
          </p15:clr>
        </p15:guide>
        <p15:guide id="2" pos="599">
          <p15:clr>
            <a:srgbClr val="E46962"/>
          </p15:clr>
        </p15:guide>
        <p15:guide id="3" pos="2789">
          <p15:clr>
            <a:srgbClr val="E46962"/>
          </p15:clr>
        </p15:guide>
        <p15:guide id="4" pos="3285">
          <p15:clr>
            <a:srgbClr val="E46962"/>
          </p15:clr>
        </p15:guide>
        <p15:guide id="5" orient="horz" pos="2543">
          <p15:clr>
            <a:srgbClr val="E46962"/>
          </p15:clr>
        </p15:guide>
        <p15:guide id="6" orient="horz" pos="2294">
          <p15:clr>
            <a:srgbClr val="E46962"/>
          </p15:clr>
        </p15:guide>
        <p15:guide id="7" orient="horz" pos="1930">
          <p15:clr>
            <a:srgbClr val="E46962"/>
          </p15:clr>
        </p15:guide>
        <p15:guide id="8" orient="horz" pos="1557">
          <p15:clr>
            <a:srgbClr val="E46962"/>
          </p15:clr>
        </p15:guide>
        <p15:guide id="9" orient="horz" pos="119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91691"/>
          <a:stretch/>
        </p:blipFill>
        <p:spPr>
          <a:xfrm>
            <a:off x="1850" y="4718049"/>
            <a:ext cx="9144000" cy="42753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 txBox="1"/>
          <p:nvPr>
            <p:ph type="title"/>
          </p:nvPr>
        </p:nvSpPr>
        <p:spPr>
          <a:xfrm>
            <a:off x="457200" y="1522413"/>
            <a:ext cx="8229599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i="0" sz="48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RIght">
  <p:cSld name="Photo RIgh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457200" y="402336"/>
            <a:ext cx="3657599" cy="653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 showMasterSp="0" type="tx">
  <p:cSld name="TITLE_AND_BODY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91691"/>
          <a:stretch/>
        </p:blipFill>
        <p:spPr>
          <a:xfrm>
            <a:off x="1850" y="4718049"/>
            <a:ext cx="9144000" cy="42753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57200" y="400050"/>
            <a:ext cx="82296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eko SemiBold"/>
              <a:buNone/>
              <a:defRPr sz="4800">
                <a:solidFill>
                  <a:schemeClr val="lt2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 showMasterSp="0">
  <p:cSld name="Title &amp; Photo"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91898"/>
          <a:stretch/>
        </p:blipFill>
        <p:spPr>
          <a:xfrm>
            <a:off x="1850" y="4728697"/>
            <a:ext cx="9144000" cy="41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 rotWithShape="1">
          <a:blip r:embed="rId3">
            <a:alphaModFix/>
          </a:blip>
          <a:srcRect b="79429" l="0" r="0" t="26"/>
          <a:stretch/>
        </p:blipFill>
        <p:spPr>
          <a:xfrm>
            <a:off x="1850" y="0"/>
            <a:ext cx="91403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/>
          <p:nvPr>
            <p:ph idx="3" type="pic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2263818"/>
            <a:ext cx="822960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>
            <a:off x="450450" y="412900"/>
            <a:ext cx="5400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4" type="subTitle"/>
          </p:nvPr>
        </p:nvSpPr>
        <p:spPr>
          <a:xfrm>
            <a:off x="450450" y="4020350"/>
            <a:ext cx="8229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3 SemiBold"/>
              <a:buNone/>
              <a:defRPr sz="1800">
                <a:solidFill>
                  <a:schemeClr val="lt1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SemiBold"/>
              <a:buNone/>
              <a:defRPr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12">
          <p15:clr>
            <a:srgbClr val="E46962"/>
          </p15:clr>
        </p15:guide>
        <p15:guide id="2" pos="3686">
          <p15:clr>
            <a:srgbClr val="E46962"/>
          </p15:clr>
        </p15:guide>
        <p15:guide id="3" orient="horz" pos="2533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imple">
  <p:cSld name="Agenda Simp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57075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5001965" y="813547"/>
            <a:ext cx="3684834" cy="1758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1"/>
          <p:cNvSpPr txBox="1"/>
          <p:nvPr>
            <p:ph idx="1" type="subTitle"/>
          </p:nvPr>
        </p:nvSpPr>
        <p:spPr>
          <a:xfrm>
            <a:off x="5001975" y="2641600"/>
            <a:ext cx="36849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Source Sans 3 Medium"/>
              <a:buNone/>
              <a:defRPr sz="1700">
                <a:latin typeface="Source Sans 3 Medium"/>
                <a:ea typeface="Source Sans 3 Medium"/>
                <a:cs typeface="Source Sans 3 Medium"/>
                <a:sym typeface="Source Sans 3 Medium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lumns">
  <p:cSld name="Title &amp; 2 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300175"/>
            <a:ext cx="39504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2" type="body"/>
          </p:nvPr>
        </p:nvSpPr>
        <p:spPr>
          <a:xfrm>
            <a:off x="4736400" y="1300175"/>
            <a:ext cx="39504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457200" y="891100"/>
            <a:ext cx="82296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/>
        </p:txBody>
      </p:sp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457200" y="3098325"/>
            <a:ext cx="8229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911259" y="3558795"/>
            <a:ext cx="7575020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None/>
              <a:defRPr sz="1150"/>
            </a:lvl1pPr>
            <a:lvl2pPr indent="-301625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2pPr>
            <a:lvl3pPr indent="-301625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5pPr>
            <a:lvl6pPr indent="-301625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6pPr>
            <a:lvl7pPr indent="-301625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7pPr>
            <a:lvl8pPr indent="-301625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8pPr>
            <a:lvl9pPr indent="-301625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9pPr>
          </a:lstStyle>
          <a:p/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657721" y="1057275"/>
            <a:ext cx="7828558" cy="22337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None/>
              <a:defRPr i="0"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indent="-4318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2pPr>
            <a:lvl3pPr indent="-4318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3pPr>
            <a:lvl4pPr indent="-4318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Char char="•"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 SemiBold"/>
              <a:buNone/>
              <a:defRPr sz="3200">
                <a:solidFill>
                  <a:srgbClr val="182B49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5pPr>
            <a:lvl6pPr indent="-4318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6pPr>
            <a:lvl7pPr indent="-4318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7pPr>
            <a:lvl8pPr indent="-4318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8pPr>
            <a:lvl9pPr indent="-4318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 SemiBold"/>
              <a:buChar char="•"/>
              <a:defRPr sz="3200">
                <a:latin typeface="Teko SemiBold"/>
                <a:ea typeface="Teko SemiBold"/>
                <a:cs typeface="Teko SemiBold"/>
                <a:sym typeface="Teko SemiBold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>
            <p:ph idx="2" type="pic"/>
          </p:nvPr>
        </p:nvSpPr>
        <p:spPr>
          <a:xfrm>
            <a:off x="5910262" y="2647500"/>
            <a:ext cx="2776538" cy="2019774"/>
          </a:xfrm>
          <a:prstGeom prst="roundRect">
            <a:avLst>
              <a:gd fmla="val 4810" name="adj"/>
            </a:avLst>
          </a:prstGeom>
          <a:noFill/>
          <a:ln>
            <a:noFill/>
          </a:ln>
        </p:spPr>
      </p:sp>
      <p:sp>
        <p:nvSpPr>
          <p:cNvPr id="97" name="Google Shape;97;p17"/>
          <p:cNvSpPr/>
          <p:nvPr>
            <p:ph idx="3" type="pic"/>
          </p:nvPr>
        </p:nvSpPr>
        <p:spPr>
          <a:xfrm>
            <a:off x="5910262" y="452296"/>
            <a:ext cx="2776538" cy="2019774"/>
          </a:xfrm>
          <a:prstGeom prst="roundRect">
            <a:avLst>
              <a:gd fmla="val 4810" name="adj"/>
            </a:avLst>
          </a:prstGeom>
          <a:noFill/>
          <a:ln>
            <a:noFill/>
          </a:ln>
        </p:spPr>
      </p:sp>
      <p:sp>
        <p:nvSpPr>
          <p:cNvPr id="98" name="Google Shape;98;p17"/>
          <p:cNvSpPr/>
          <p:nvPr>
            <p:ph idx="4" type="pic"/>
          </p:nvPr>
        </p:nvSpPr>
        <p:spPr>
          <a:xfrm>
            <a:off x="457200" y="452628"/>
            <a:ext cx="5291100" cy="4214700"/>
          </a:xfrm>
          <a:prstGeom prst="roundRect">
            <a:avLst>
              <a:gd fmla="val 2254" name="adj"/>
            </a:avLst>
          </a:prstGeom>
          <a:noFill/>
          <a:ln>
            <a:noFill/>
          </a:ln>
        </p:spPr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 Only">
  <p:cSld name="Frame 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8763" cy="514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b="0" i="0" sz="900" u="none" cap="none" strike="noStrik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b="0" i="0" sz="16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eko SemiBold"/>
              <a:buNone/>
              <a:defRPr b="0" i="0" sz="3400" u="none" cap="none" strike="noStrike">
                <a:solidFill>
                  <a:schemeClr val="dk1"/>
                </a:solidFill>
                <a:latin typeface="Teko SemiBold"/>
                <a:ea typeface="Teko SemiBold"/>
                <a:cs typeface="Teko SemiBold"/>
                <a:sym typeface="Teko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b="1" i="0" sz="3375" u="none" cap="none" strike="noStrik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819">
          <p15:clr>
            <a:srgbClr val="F26B43"/>
          </p15:clr>
        </p15:guide>
        <p15:guide id="4" orient="horz" pos="2790">
          <p15:clr>
            <a:srgbClr val="F26B43"/>
          </p15:clr>
        </p15:guide>
        <p15:guide id="5" orient="horz" pos="252">
          <p15:clr>
            <a:srgbClr val="F26B43"/>
          </p15:clr>
        </p15:guide>
        <p15:guide id="6" orient="horz" pos="666">
          <p15:clr>
            <a:srgbClr val="F26B43"/>
          </p15:clr>
        </p15:guide>
        <p15:guide id="7" pos="288">
          <p15:clr>
            <a:srgbClr val="F26B43"/>
          </p15:clr>
        </p15:guide>
        <p15:guide id="8" pos="5472">
          <p15:clr>
            <a:srgbClr val="F26B43"/>
          </p15:clr>
        </p15:guide>
        <p15:guide id="9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6819843" y="286172"/>
            <a:ext cx="2009699" cy="38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type="title"/>
          </p:nvPr>
        </p:nvSpPr>
        <p:spPr>
          <a:xfrm>
            <a:off x="457200" y="1057275"/>
            <a:ext cx="82296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CSE/DSC 234 — Project 1</a:t>
            </a:r>
            <a:endParaRPr/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RAG &amp; Context Engineering + RapidFire AI OSS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/>
              <a:t>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>
            <p:ph idx="1" type="body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17" name="Google Shape;117;p21"/>
          <p:cNvSpPr/>
          <p:nvPr>
            <p:ph idx="2" type="body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8" name="Google Shape;118;p21"/>
          <p:cNvSpPr/>
          <p:nvPr>
            <p:ph idx="3" type="body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19" name="Google Shape;119;p21"/>
          <p:cNvSpPr/>
          <p:nvPr>
            <p:ph idx="5" type="body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1"/>
          <p:cNvSpPr txBox="1"/>
          <p:nvPr>
            <p:ph idx="14" type="subTitle"/>
          </p:nvPr>
        </p:nvSpPr>
        <p:spPr>
          <a:xfrm>
            <a:off x="951200" y="1302125"/>
            <a:ext cx="6025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/>
              <a:t>Part 1 (Course project overview – ~14 min + DataHub setup – ~3 min)</a:t>
            </a:r>
            <a:endParaRPr/>
          </a:p>
        </p:txBody>
      </p:sp>
      <p:sp>
        <p:nvSpPr>
          <p:cNvPr id="123" name="Google Shape;123;p21"/>
          <p:cNvSpPr txBox="1"/>
          <p:nvPr>
            <p:ph idx="15" type="subTitle"/>
          </p:nvPr>
        </p:nvSpPr>
        <p:spPr>
          <a:xfrm>
            <a:off x="951200" y="1886875"/>
            <a:ext cx="6230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/>
              <a:t>Part 2 (RapidFire AI OSS ~14 min + RAG with RapidFire AI~5 min)</a:t>
            </a:r>
            <a:endParaRPr/>
          </a:p>
        </p:txBody>
      </p:sp>
      <p:sp>
        <p:nvSpPr>
          <p:cNvPr id="124" name="Google Shape;124;p21"/>
          <p:cNvSpPr txBox="1"/>
          <p:nvPr>
            <p:ph idx="16" type="subTitle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/>
              <a:t>Submission logistics – ~4 min</a:t>
            </a:r>
            <a:endParaRPr/>
          </a:p>
        </p:txBody>
      </p:sp>
      <p:sp>
        <p:nvSpPr>
          <p:cNvPr id="125" name="Google Shape;125;p21"/>
          <p:cNvSpPr txBox="1"/>
          <p:nvPr>
            <p:ph idx="17" type="subTitle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/>
              <a:t>Live Demo –  ~10-15 mins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Part I: Course Project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Learning outcomes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Build an end-to-end RAG pipeline: chunking, embedding, indexing, retrieval, reranking, generation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Create ≥20 golden Q&amp;A pairs with source locations (data curation)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Apply retrieval + generation metrics; LLM-as-judge; optional custom metrics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Use RapidFire AI OSS for systematic multi-config experiments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Develop judgment on retrieval/context tradeoffs for real applications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High-level task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Single-turn Q&amp;A over the RapidFire AI OSS documentation corpus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Use RapidFire’s multi-config framework to explore and optimize the pipeline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Hard constraint: ≤2,000 tokens per query to the LLM (system + all context)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Models production: corpora are huge vs. context window - retrieval engineering matters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3 main things for you to do</a:t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rPr lang="en-US"/>
              <a:t>1. Golden data: ≥20 hand-labeled Q&amp;A pairs with identified source locations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rPr lang="en-US"/>
              <a:t>2. System: RAG that retrieves relevant chunks and answers within the budget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rPr lang="en-US"/>
              <a:t>3. Experimentation: compare multiple configs (chunking, embedding, retrieval, rerank, prompts)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Infrastructure </a:t>
            </a:r>
            <a:endParaRPr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Compute: DSMLP DataHub 8-core + 32 GB RAM machine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LLM APIs: Triton API Gateway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Framework: pip install rapidfireai; run_evals() API for multi-config RAG evaluation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RAG: LangChain via RFLangChainRagSpec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Embeddings: OpenAI or CPU OSS (e.g. sentence-transformers, BGE)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Vector stores &amp; retrievers</a:t>
            </a:r>
            <a:endParaRPr/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FAISS (default): in-memory, Create mode - quick start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PGVector / Pinecone: persistent; Read/Update —&gt; embed once, many retrieval configs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Any LangChain BaseRetriever: BM25, hybrid, ensemble, custom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Built-in: similarity / score threshold / MMR, top-k —&gt; all experiment knobs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Optional cross-encoder reranking (e.g. CrossEncoderReranker)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Release packet &amp; evaluation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Starter setup, doc corpus (RST plaintext), 20 Q&amp;A pairs released val set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Retrieval script: F1, Precision@k, Recall@k vs. ground-truth spans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LLM judge (0–5): Correctness, Completeness, Faithfulness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Hidden test + two hidden judge metrics; leaderboard formula combines retrieval &amp; generation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Leaderboard score (summary)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22352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Overall = 0.5 × Retrieval + 0.5 × Generation</a:t>
            </a:r>
            <a:endParaRPr/>
          </a:p>
          <a:p>
            <a:pPr indent="-22352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Retrieval = average of F1 + Precision@5 + Recall@5</a:t>
            </a:r>
            <a:endParaRPr/>
          </a:p>
          <a:p>
            <a:pPr indent="-22352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Generation = average of five 0–5 judge scores (incl. two hidden)</a:t>
            </a:r>
            <a:endParaRPr/>
          </a:p>
          <a:p>
            <a:pPr indent="-22352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Leaderboard is for extra credit only (top 10th and 20th percentiles)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Deliverables you must produce</a:t>
            </a:r>
            <a:endParaRPr/>
          </a:p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20000"/>
          </a:bodyPr>
          <a:lstStyle/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≥20 golden Q&amp;A JSON (quality, diversity: factual, conceptual, procedural, comparative)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main.py: python3 main.py --input … --output … (deterministic final pipeline)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Output JSON: question_id, answer, sources (tuples per spec)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Report: pipeline, methodology (≥8 distinct configs), results, AI tools statement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Private git repo + logs/ (rapidfire.log, experiments_path metrics) with full unaltered commit/push history</a:t>
            </a:r>
            <a:endParaRPr sz="2063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Grading snapshot</a:t>
            </a:r>
            <a:endParaRPr/>
          </a:p>
        </p:txBody>
      </p:sp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20000"/>
          </a:bodyPr>
          <a:lstStyle/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Auto-grade main.py: 6% | Golden data: 2% | Report: 2%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F2F interview: 10% (Pass / Re-interview path)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Experimentation is assessed via logs, report, interview -&gt; TAs replay run_evals, not every IC op</a:t>
            </a:r>
            <a:endParaRPr sz="2063"/>
          </a:p>
          <a:p>
            <a:pPr indent="-219054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 sz="2063"/>
              <a:t>Final pipeline must be deterministic; experimentation can be interactive</a:t>
            </a:r>
            <a:endParaRPr sz="2063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24091"/>
              <a:buNone/>
            </a:pPr>
            <a:r>
              <a:t/>
            </a:r>
            <a:endParaRPr sz="2063"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Datahub &amp; TritonAI LLM Gateway</a:t>
            </a:r>
            <a:endParaRPr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457200" y="1300175"/>
            <a:ext cx="82296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89"/>
              <a:buChar char="•"/>
            </a:pPr>
            <a:r>
              <a:rPr lang="en-US" sz="1589"/>
              <a:t>Datahub: https://datahub.ucsd.edu/  — sign in with UCSD SSO; launch the 8-core, 32 GiB RAM instance for the project.</a:t>
            </a:r>
            <a:endParaRPr sz="1589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89"/>
              <a:buChar char="•"/>
            </a:pPr>
            <a:r>
              <a:rPr lang="en-US" sz="1589"/>
              <a:t>TritonAI LLM Gateway: your API key is in api-key.txt in your user home directory on Datahub.</a:t>
            </a:r>
            <a:endParaRPr sz="1589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89"/>
              <a:buChar char="•"/>
            </a:pPr>
            <a:r>
              <a:rPr lang="en-US" sz="1589"/>
              <a:t>Models and endpoints: https://tritonai-api.ucsd.edu/ui/model_hub_table/  — the gateway is OpenAI-compatible.</a:t>
            </a:r>
            <a:endParaRPr sz="1589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589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589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4572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Timeline and key dates</a:t>
            </a:r>
            <a:endParaRPr/>
          </a:p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Release / TA discussion: </a:t>
            </a:r>
            <a:r>
              <a:rPr lang="en-US" sz="1200"/>
              <a:t>Wed, Apr 15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Set up github repo and add us as collaborators: Thu Apr 16, 11:59pm PT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arunkk09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hssingh15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raghav10j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hrb0755</a:t>
            </a:r>
            <a:endParaRPr sz="1200"/>
          </a:p>
          <a:p>
            <a:pPr indent="-30480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manasjain26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Early submit (leaderboard preview): </a:t>
            </a:r>
            <a:r>
              <a:rPr lang="en-US" sz="1200"/>
              <a:t>Thu, Apr 23</a:t>
            </a:r>
            <a:r>
              <a:rPr lang="en-US" sz="1200"/>
              <a:t>, 11:59pm PT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Project 1 Due: 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</a:rPr>
              <a:t>Wed, Apr 29</a:t>
            </a:r>
            <a:r>
              <a:rPr lang="en-US" sz="1200"/>
              <a:t>, 11:59pm PT  </a:t>
            </a:r>
            <a:endParaRPr sz="1200"/>
          </a:p>
          <a:p>
            <a:pPr indent="-2133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F2F Interviews: </a:t>
            </a:r>
            <a:r>
              <a:rPr lang="en-US" sz="1200"/>
              <a:t>Tue, Apr 28 to Wed, May 6</a:t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4"/>
          <p:cNvSpPr txBox="1"/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Part II: RapidFire AI OSS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RapidFire AI?</a:t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OSS experiment execution framework for LLM pipelines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Moves from slow sequential tuning to parallel, intelligent workflows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Hyperparallel execution + dynamic real-time control + automatic backend optimization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pip install rapidfireai -&gt; CPU-only, single-GPU, or multi-GPU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Source: https://oss-docs.rapidfire.ai/en/latest/overview.html </a:t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457200" y="402336"/>
            <a:ext cx="3657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Three-way live system</a:t>
            </a:r>
            <a:endParaRPr/>
          </a:p>
        </p:txBody>
      </p:sp>
      <p:sp>
        <p:nvSpPr>
          <p:cNvPr id="227" name="Google Shape;227;p3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Your IDE where you launch experiments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RapidFire Metrics dashboard + control UI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Multi-core / multi-GPU execution backend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First-class linkage between editing, observing, and executing runs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4700" y="1262987"/>
            <a:ext cx="4723077" cy="261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you work with it</a:t>
            </a:r>
            <a:endParaRPr/>
          </a:p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Start the server and init evals mode from the CLI or notebook cell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import rapidfireai in notebook or scripts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Define groups of configs to compare; launch them together via the run_evals() API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Metrics appear as plots in the ML dashboard; for RAG/context evals, they also appear in the notebook itself as a table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Interactive Control (IC) Operations: Stop, Resume, Clone-Modify runs in flight</a:t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Adaptive execution engine (core idea)</a:t>
            </a:r>
            <a:endParaRPr/>
          </a:p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Training/eval data split into random shards (chunks)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Schedules all runs on one shard at a time, then cycles — not full pass before any signal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For self-hosted models: Swap adapters/models across GPU/DRAM with shared-memory caching (can spill to disk)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For closed model APIs: Swaps API calls across configs and automatically apportions token rate limits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Swap overhead often &lt;5% of runtime in reported measurements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Source: https://oss-docs.rapidfire.ai/en/latest/difference.html </a:t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457200" y="402325"/>
            <a:ext cx="4579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sharding vs. sequential</a:t>
            </a:r>
            <a:endParaRPr/>
          </a:p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1 GPU, multiple configs: see learning behavior on early shards before sequential run 3 starts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RAG evals: online aggregation — estimated metrics + confidence intervals as shards process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Converges to exact full-dataset metrics when all shards finish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51" name="Google Shape;2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150" y="1574750"/>
            <a:ext cx="4814500" cy="214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457200" y="402325"/>
            <a:ext cx="5531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8824"/>
              <a:buNone/>
            </a:pPr>
            <a:r>
              <a:rPr lang="en-US"/>
              <a:t>Interactive Control Operations (IC Ops)</a:t>
            </a:r>
            <a:endParaRPr/>
          </a:p>
        </p:txBody>
      </p:sp>
      <p:sp>
        <p:nvSpPr>
          <p:cNvPr id="257" name="Google Shape;257;p40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Stop unpromising runs (wait queue); resume later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Clone strong runs; modify knobs; warm-start from parent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Scheduler places runs/chunks on GPUs — focus on experiment logic, not low-level parallelization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With IC Ops, explore many more configs in similar wall-clock vs. naive sequential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59" name="Google Shape;259;p40"/>
          <p:cNvPicPr preferRelativeResize="0"/>
          <p:nvPr/>
        </p:nvPicPr>
        <p:blipFill rotWithShape="1">
          <a:blip r:embed="rId3">
            <a:alphaModFix/>
          </a:blip>
          <a:srcRect b="0" l="55754" r="0" t="0"/>
          <a:stretch/>
        </p:blipFill>
        <p:spPr>
          <a:xfrm>
            <a:off x="5407100" y="896175"/>
            <a:ext cx="3279698" cy="383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457200" y="402325"/>
            <a:ext cx="5531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Online aggregation for evals</a:t>
            </a:r>
            <a:endParaRPr/>
          </a:p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Classic batch eval: each config must finish the full eval set before you trust its score -&gt; slow and expensive for LLM calls.</a:t>
            </a:r>
            <a:endParaRPr/>
          </a:p>
          <a:p>
            <a:pPr indent="-2159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RapidFire randomly shards the eval set; configs advance in parallel, shard by shard. You get running estimates plus confidence intervals in real time.</a:t>
            </a:r>
            <a:endParaRPr/>
          </a:p>
          <a:p>
            <a:pPr indent="-2159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Use that signal with IC Ops: stop weak runs early, clone strong ones, and steer API token spend toward better configs.</a:t>
            </a:r>
            <a:endParaRPr/>
          </a:p>
          <a:p>
            <a:pPr indent="-215900" lvl="0" marL="2286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Tag metrics as distributive (additive counts/sums) or algebraic (means/proportions from decomposable parts) so aggregation and CIs are statistically sound.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</p:txBody>
      </p:sp>
      <p:pic>
        <p:nvPicPr>
          <p:cNvPr id="267" name="Google Shape;2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2800" y="1324738"/>
            <a:ext cx="4060201" cy="2494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RAG with RapidFire</a:t>
            </a:r>
            <a:endParaRPr/>
          </a:p>
        </p:txBody>
      </p:sp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You describe one RAG pipeline as a single object: RFLangChainRagSpec (standard LangChain pieces: load, chunk, embed, store, retrieve, optional rerank).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You attach that object to a generator config: usually RFOpenAIAPIModelConfig for this class (API model + your RAG spec).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RapidFire runs many such configs in parallel, shows metrics in the notebook, and lets you stop/clone/tweak runs (IC Ops).</a:t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RAG with RapidFire</a:t>
            </a:r>
            <a:endParaRPr/>
          </a:p>
        </p:txBody>
      </p:sp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1" name="Google Shape;28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1175" y="1057275"/>
            <a:ext cx="4941650" cy="362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to do in practice</a:t>
            </a:r>
            <a:endParaRPr/>
          </a:p>
        </p:txBody>
      </p: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Get a baseline working end-to-end first (one chunk size, one embedding, default FAISS, one search top-k).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Turn knobs into experiments: e.g. several chunk sizes or embedding models by passing List(...) on those fields — that is your multi-config sweep.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Only open the full API reference when you need a specific feature (PGVector, custom retriever, reranker, few-shot prompts).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Submission logistics</a:t>
            </a:r>
            <a:endParaRPr/>
          </a:p>
        </p:txBody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45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Submit once per team via Canvas (only the final upload counts if you resubmit).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Single zipped folder named &lt;TeamID&gt;.zip using your assigned team ID.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Keep the course Projects page policies in mind (teams, integrity, git rules).</a:t>
            </a:r>
            <a:endParaRPr sz="1500"/>
          </a:p>
          <a:p>
            <a:pPr indent="-22860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Git repo expectations</a:t>
            </a:r>
            <a:endParaRPr sz="1500"/>
          </a:p>
          <a:p>
            <a:pPr indent="-32385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Private repo: add all TAs and the instructor as collaborators within 24 hours of release (GitHub IDs on Piazza).</a:t>
            </a:r>
            <a:endParaRPr sz="1500"/>
          </a:p>
          <a:p>
            <a:pPr indent="-32385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Commit and push logs regularly — rapidfire.log and metrics files are required evidence for experimentation and partial credit.</a:t>
            </a:r>
            <a:endParaRPr sz="1500"/>
          </a:p>
          <a:p>
            <a:pPr indent="-323850" lvl="1" marL="9144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500"/>
              <a:buChar char="•"/>
            </a:pPr>
            <a:r>
              <a:rPr lang="en-US" sz="1500"/>
              <a:t>History should show real iterative work; dumping AI-generated code in one commit or forging history is an integrity violation.</a:t>
            </a:r>
            <a:endParaRPr sz="1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Evaluation plan</a:t>
            </a:r>
            <a:endParaRPr/>
          </a:p>
        </p:txBody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46"/>
          <p:cNvSpPr txBox="1"/>
          <p:nvPr>
            <p:ph idx="1" type="body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rPr lang="en-US" sz="1400"/>
              <a:t>Retrieval evaluation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Provided script scores overlap between retrieved chunks and ground-truth source spans (file + line ranges).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A retrieved chunk counts as a hit if it overlaps any ground-truth span for that question.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Reported retrieval ingredients include F1, Precision@k, and Recall@k for specified k (used in the leaderboard retrieval score).</a:t>
            </a:r>
            <a:endParaRPr sz="1400"/>
          </a:p>
          <a:p>
            <a:pPr indent="0" lvl="0" marL="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600"/>
              <a:buNone/>
            </a:pPr>
            <a:r>
              <a:rPr lang="en-US" sz="1400"/>
              <a:t>Generation evaluation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LLM-as-judge on OpenAI; each metric scored 0–5.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Released rubric: Correctness, Completeness, Faithfulness (grounded in retrieved context).</a:t>
            </a:r>
            <a:endParaRPr sz="1400"/>
          </a:p>
          <a:p>
            <a:pPr indent="-226060" lvl="0" marL="228600" rtl="0" algn="l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Hidden test adds two additional judge metrics (also 0–5) so teams cannot overfit the public rubric alone.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7"/>
          <p:cNvSpPr txBox="1"/>
          <p:nvPr>
            <p:ph idx="4294967295" type="ctrTitle"/>
          </p:nvPr>
        </p:nvSpPr>
        <p:spPr>
          <a:xfrm>
            <a:off x="457200" y="1057275"/>
            <a:ext cx="82296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eko SemiBold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eko SemiBold"/>
                <a:ea typeface="Teko SemiBold"/>
                <a:cs typeface="Teko SemiBold"/>
                <a:sym typeface="Teko SemiBold"/>
              </a:rPr>
              <a:t>Thank you!</a:t>
            </a:r>
            <a:endParaRPr b="1" i="0" sz="6000" u="none" cap="none" strike="noStrike">
              <a:solidFill>
                <a:srgbClr val="FFFFFF"/>
              </a:solidFill>
              <a:latin typeface="Teko SemiBold"/>
              <a:ea typeface="Teko SemiBold"/>
              <a:cs typeface="Teko SemiBold"/>
              <a:sym typeface="Teko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and Gold">
  <a:themeElements>
    <a:clrScheme name="Blue &amp; Gold">
      <a:dk1>
        <a:srgbClr val="182B48"/>
      </a:dk1>
      <a:lt1>
        <a:srgbClr val="FFCC00"/>
      </a:lt1>
      <a:dk2>
        <a:srgbClr val="182B48"/>
      </a:dk2>
      <a:lt2>
        <a:srgbClr val="FEFFFF"/>
      </a:lt2>
      <a:accent1>
        <a:srgbClr val="00629B"/>
      </a:accent1>
      <a:accent2>
        <a:srgbClr val="FFCC00"/>
      </a:accent2>
      <a:accent3>
        <a:srgbClr val="182B48"/>
      </a:accent3>
      <a:accent4>
        <a:srgbClr val="C59114"/>
      </a:accent4>
      <a:accent5>
        <a:srgbClr val="747578"/>
      </a:accent5>
      <a:accent6>
        <a:srgbClr val="FFCC00"/>
      </a:accent6>
      <a:hlink>
        <a:srgbClr val="00629B"/>
      </a:hlink>
      <a:folHlink>
        <a:srgbClr val="7475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